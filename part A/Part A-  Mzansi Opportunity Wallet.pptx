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2BE14B-EDE7-459A-A1C3-BA3C514A6DA0}" v="5" dt="2026-07-08T12:45:26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AA2B8-72B8-4566-8252-2B4FC3ACA848}" type="datetimeFigureOut">
              <a:rPr lang="en-ZA" smtClean="0"/>
              <a:t>2026/07/08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70195-696D-4EE1-A21D-71076ED721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475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focus on a problem that is deeply South African: youth unemployment and income instability. The issue is not only that jobs are scarce. It is also that many young people cannot prove reliability, cannot access short-term work safely, and cannot convert small earning moments into a financial identity.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70195-696D-4EE1-A21D-71076ED72150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5833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innovation is not to copy Uber. It is to borrow the trust design. Marketplaces make strangers comfortable transacting with each other. A bank can do the same for work, payment, and financial access.</a:t>
            </a:r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70195-696D-4EE1-A21D-71076ED72150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4935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young person gets a weekend retail shift, receives a small transport/data advance, completes the job, is paid instantly, and builds a verified work history.</a:t>
            </a:r>
          </a:p>
          <a:p>
            <a:r>
              <a:rPr lang="en-US" dirty="0"/>
              <a:t>The product creates a loop: opportunity creates earnings, earnings create proof, proof creates trust, and trust unlocks more opportunities and better banking access.</a:t>
            </a:r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70195-696D-4EE1-A21D-71076ED72150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0556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bank benefits because informal earning becomes formal financial activity. Today, many young people are invisible to the formal financial system. This gives the bank verified data, customer loyalty, and a new way to grow responsibly.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70195-696D-4EE1-A21D-71076ED72150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9861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 Africa does not only need more bank accounts. It needs more people becoming economically visible. Mzansi Opportunity Wallet turns the bank into a trusted bridge between talent, work, payment, and financial inclusion.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70195-696D-4EE1-A21D-71076ED72150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1453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43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3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0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6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6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4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5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4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2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0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E483E7-A263-12ED-AA85-9EF38104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22599"/>
            <a:ext cx="11155680" cy="1014984"/>
          </a:xfrm>
          <a:solidFill>
            <a:schemeClr val="accent6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  <a:t>Mzansi Opportunity Wallet</a:t>
            </a:r>
            <a:br>
              <a:rPr lang="en-ZA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en-ZA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7E3C8-8928-5BFC-FC31-C21D17E91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57" y="3662356"/>
            <a:ext cx="2870807" cy="2870807"/>
          </a:xfrm>
          <a:prstGeom prst="rect">
            <a:avLst/>
          </a:prstGeom>
        </p:spPr>
      </p:pic>
      <p:sp>
        <p:nvSpPr>
          <p:cNvPr id="7" name="Stat text 32.7%">
            <a:extLst>
              <a:ext uri="{FF2B5EF4-FFF2-40B4-BE49-F238E27FC236}">
                <a16:creationId xmlns:a16="http://schemas.microsoft.com/office/drawing/2014/main" id="{8EC6ABED-A686-7949-3AE7-D1B18FB21306}"/>
              </a:ext>
            </a:extLst>
          </p:cNvPr>
          <p:cNvSpPr txBox="1"/>
          <p:nvPr/>
        </p:nvSpPr>
        <p:spPr>
          <a:xfrm>
            <a:off x="523115" y="2455447"/>
            <a:ext cx="3246120" cy="78638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100"/>
              </a:spcAft>
            </a:pPr>
            <a:r>
              <a:rPr lang="en-ZA" sz="2400" b="1" dirty="0">
                <a:solidFill>
                  <a:srgbClr val="C2410C"/>
                </a:solidFill>
                <a:latin typeface="Aptos"/>
              </a:rPr>
              <a:t>32.7%</a:t>
            </a:r>
          </a:p>
          <a:p>
            <a:pPr algn="l">
              <a:spcAft>
                <a:spcPts val="400"/>
              </a:spcAft>
            </a:pPr>
            <a:r>
              <a:rPr lang="en-ZA" sz="1100" dirty="0">
                <a:solidFill>
                  <a:srgbClr val="52616B"/>
                </a:solidFill>
                <a:latin typeface="Aptos"/>
              </a:rPr>
              <a:t>official unemployment in Q1 2026</a:t>
            </a:r>
          </a:p>
        </p:txBody>
      </p:sp>
      <p:sp>
        <p:nvSpPr>
          <p:cNvPr id="9" name="Stat text 8.1m">
            <a:extLst>
              <a:ext uri="{FF2B5EF4-FFF2-40B4-BE49-F238E27FC236}">
                <a16:creationId xmlns:a16="http://schemas.microsoft.com/office/drawing/2014/main" id="{540F8BF8-4A17-F68F-509E-D8DF4F888894}"/>
              </a:ext>
            </a:extLst>
          </p:cNvPr>
          <p:cNvSpPr txBox="1"/>
          <p:nvPr/>
        </p:nvSpPr>
        <p:spPr>
          <a:xfrm>
            <a:off x="4188616" y="2455447"/>
            <a:ext cx="3246120" cy="786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100"/>
              </a:spcAft>
            </a:pPr>
            <a:r>
              <a:rPr lang="en-ZA" sz="2400" b="1" dirty="0">
                <a:solidFill>
                  <a:srgbClr val="0E7A5F"/>
                </a:solidFill>
                <a:latin typeface="Aptos"/>
              </a:rPr>
              <a:t>8.1m</a:t>
            </a:r>
          </a:p>
          <a:p>
            <a:pPr algn="l">
              <a:spcAft>
                <a:spcPts val="400"/>
              </a:spcAft>
            </a:pPr>
            <a:r>
              <a:rPr lang="en-ZA" sz="1100" dirty="0">
                <a:solidFill>
                  <a:srgbClr val="52616B"/>
                </a:solidFill>
                <a:latin typeface="Aptos"/>
              </a:rPr>
              <a:t>unemployed people in Q1 2026</a:t>
            </a:r>
          </a:p>
        </p:txBody>
      </p:sp>
      <p:sp>
        <p:nvSpPr>
          <p:cNvPr id="11" name="Stat text 45.6%">
            <a:extLst>
              <a:ext uri="{FF2B5EF4-FFF2-40B4-BE49-F238E27FC236}">
                <a16:creationId xmlns:a16="http://schemas.microsoft.com/office/drawing/2014/main" id="{3224BE0B-BDEC-9221-0A7B-4F2A19D0FC08}"/>
              </a:ext>
            </a:extLst>
          </p:cNvPr>
          <p:cNvSpPr txBox="1"/>
          <p:nvPr/>
        </p:nvSpPr>
        <p:spPr>
          <a:xfrm>
            <a:off x="8240380" y="2460302"/>
            <a:ext cx="3246120" cy="786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100"/>
              </a:spcAft>
            </a:pPr>
            <a:r>
              <a:rPr lang="en-ZA" sz="2400" b="1" dirty="0">
                <a:solidFill>
                  <a:srgbClr val="2563EB"/>
                </a:solidFill>
                <a:latin typeface="Aptos"/>
              </a:rPr>
              <a:t>45.6%</a:t>
            </a:r>
          </a:p>
          <a:p>
            <a:pPr algn="l">
              <a:spcAft>
                <a:spcPts val="400"/>
              </a:spcAft>
            </a:pPr>
            <a:r>
              <a:rPr lang="en-ZA" sz="1100" dirty="0">
                <a:solidFill>
                  <a:srgbClr val="52616B"/>
                </a:solidFill>
                <a:latin typeface="Aptos"/>
              </a:rPr>
              <a:t>youth aged 15-34 not in work, education, or 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B3AA3F-3280-7B76-AA1E-180D23A80369}"/>
              </a:ext>
            </a:extLst>
          </p:cNvPr>
          <p:cNvSpPr txBox="1"/>
          <p:nvPr/>
        </p:nvSpPr>
        <p:spPr>
          <a:xfrm>
            <a:off x="372803" y="3347773"/>
            <a:ext cx="6094476" cy="1120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lang="en-ZA" sz="1200" b="1" dirty="0">
                <a:solidFill>
                  <a:srgbClr val="005A45"/>
                </a:solidFill>
                <a:latin typeface="Aptos"/>
              </a:rPr>
              <a:t>Core problem</a:t>
            </a:r>
          </a:p>
          <a:p>
            <a:pPr>
              <a:spcAft>
                <a:spcPts val="400"/>
              </a:spcAft>
            </a:pPr>
            <a:r>
              <a:rPr lang="en-ZA" sz="1800" b="1" dirty="0">
                <a:solidFill>
                  <a:srgbClr val="1F2933"/>
                </a:solidFill>
                <a:latin typeface="Aptos"/>
              </a:rPr>
              <a:t>Many young South Africans can work, but they lack trusted access to opportunities, references, transport/data money, and formal income records.</a:t>
            </a:r>
          </a:p>
        </p:txBody>
      </p:sp>
      <p:sp>
        <p:nvSpPr>
          <p:cNvPr id="15" name="Invisible income">
            <a:extLst>
              <a:ext uri="{FF2B5EF4-FFF2-40B4-BE49-F238E27FC236}">
                <a16:creationId xmlns:a16="http://schemas.microsoft.com/office/drawing/2014/main" id="{2A6E91EF-D8A6-F229-9C31-75332D5362C3}"/>
              </a:ext>
            </a:extLst>
          </p:cNvPr>
          <p:cNvSpPr txBox="1"/>
          <p:nvPr/>
        </p:nvSpPr>
        <p:spPr>
          <a:xfrm>
            <a:off x="372803" y="4574535"/>
            <a:ext cx="6675120" cy="2139335"/>
          </a:xfrm>
          <a:prstGeom prst="rect">
            <a:avLst/>
          </a:prstGeom>
          <a:solidFill>
            <a:srgbClr val="FFFFFF"/>
          </a:solidFill>
          <a:ln w="9000">
            <a:solidFill>
              <a:srgbClr val="E6EFEA"/>
            </a:solidFill>
          </a:ln>
        </p:spPr>
        <p:txBody>
          <a:bodyPr wrap="square" lIns="65000" tIns="65000" rIns="65000" bIns="65000"/>
          <a:lstStyle/>
          <a:p>
            <a:pPr>
              <a:spcAft>
                <a:spcPts val="400"/>
              </a:spcAft>
            </a:pPr>
            <a:r>
              <a:rPr lang="en-ZA" sz="1600" b="1" dirty="0">
                <a:solidFill>
                  <a:schemeClr val="accent6">
                    <a:lumMod val="50000"/>
                  </a:schemeClr>
                </a:solidFill>
              </a:rPr>
              <a:t>South Africa does not only have an unemployment problem. It has a trust, access, and visibility problem.</a:t>
            </a:r>
            <a:endParaRPr lang="en-ZA" sz="1500" b="1" dirty="0">
              <a:solidFill>
                <a:srgbClr val="1F2933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500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Informal earnings often stay invisible to banks, employers, landlords, and insurers.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500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The missing bridge is trust: verified identity, safe payment, and proof of reliability.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500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A bank can help convert capability into recognised economic activity.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0FB27-CDE7-55DF-8B05-131CA53324D6}"/>
              </a:ext>
            </a:extLst>
          </p:cNvPr>
          <p:cNvSpPr txBox="1"/>
          <p:nvPr/>
        </p:nvSpPr>
        <p:spPr>
          <a:xfrm>
            <a:off x="3048000" y="1943525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ZA" sz="1800" b="1" i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 Problem We Cannot Ignore</a:t>
            </a:r>
            <a:endParaRPr lang="en-ZA" sz="1800" b="0" i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940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995F-21A9-EA55-829A-786E1B17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13038"/>
            <a:ext cx="11155680" cy="1463040"/>
          </a:xfrm>
          <a:solidFill>
            <a:schemeClr val="bg1">
              <a:lumMod val="95000"/>
            </a:schemeClr>
          </a:solidFill>
        </p:spPr>
        <p:txBody>
          <a:bodyPr>
            <a:normAutofit fontScale="90000"/>
          </a:bodyPr>
          <a:lstStyle/>
          <a:p>
            <a:r>
              <a:rPr lang="en-ZA" b="0" dirty="0">
                <a:solidFill>
                  <a:schemeClr val="accent6">
                    <a:lumMod val="50000"/>
                  </a:schemeClr>
                </a:solidFill>
              </a:rPr>
              <a:t>Inspiration From Another Industry</a:t>
            </a:r>
            <a:br>
              <a:rPr lang="en-ZA" b="0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ZA" sz="3100" b="0" dirty="0">
                <a:solidFill>
                  <a:schemeClr val="accent6">
                    <a:lumMod val="50000"/>
                  </a:schemeClr>
                </a:solidFill>
              </a:rPr>
              <a:t>Borrowing from ride-hailing and marketplace platforms.</a:t>
            </a:r>
            <a:br>
              <a:rPr lang="en-ZA" sz="3100" b="0" dirty="0">
                <a:solidFill>
                  <a:schemeClr val="accent6">
                    <a:lumMod val="50000"/>
                  </a:schemeClr>
                </a:solidFill>
              </a:rPr>
            </a:br>
            <a:endParaRPr lang="en-ZA" b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8FEB1-A52F-CAA0-A9D7-E4D2902B1687}"/>
              </a:ext>
            </a:extLst>
          </p:cNvPr>
          <p:cNvSpPr txBox="1"/>
          <p:nvPr/>
        </p:nvSpPr>
        <p:spPr>
          <a:xfrm>
            <a:off x="445008" y="2606030"/>
            <a:ext cx="4111753" cy="27084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ZA" sz="2400" b="1" dirty="0">
                <a:solidFill>
                  <a:srgbClr val="005A45"/>
                </a:solidFill>
                <a:latin typeface="Aptos"/>
              </a:rPr>
              <a:t>Marketplace trust model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Verified identity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Ratings and completed transaction history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Transparent pricing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Payment protection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Dispute process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ZA" sz="1800" dirty="0">
              <a:solidFill>
                <a:srgbClr val="1F2933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829FA-73C7-44F3-962F-AA0A45EF9EE3}"/>
              </a:ext>
            </a:extLst>
          </p:cNvPr>
          <p:cNvSpPr txBox="1"/>
          <p:nvPr/>
        </p:nvSpPr>
        <p:spPr>
          <a:xfrm>
            <a:off x="7635240" y="2606030"/>
            <a:ext cx="3968496" cy="28828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ZA" sz="2400" b="1" dirty="0">
                <a:solidFill>
                  <a:srgbClr val="005A45"/>
                </a:solidFill>
                <a:latin typeface="Aptos"/>
              </a:rPr>
              <a:t>Banking translation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Match young people to verified earning opportunities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Protect payment until work is completed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Turn each job into a reputation signal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rgbClr val="1F2933"/>
                </a:solidFill>
                <a:latin typeface="Aptos"/>
              </a:rPr>
              <a:t>Use verified earnings to unlock financial access</a:t>
            </a:r>
          </a:p>
        </p:txBody>
      </p:sp>
      <p:pic>
        <p:nvPicPr>
          <p:cNvPr id="13" name="Picture 12" descr="Uber Eats 2021 | Illustration, Character design, Branding design">
            <a:extLst>
              <a:ext uri="{FF2B5EF4-FFF2-40B4-BE49-F238E27FC236}">
                <a16:creationId xmlns:a16="http://schemas.microsoft.com/office/drawing/2014/main" id="{4FD64358-47F5-98AB-4B4C-5183EAFE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89" r="12344" b="11600"/>
          <a:stretch>
            <a:fillRect/>
          </a:stretch>
        </p:blipFill>
        <p:spPr>
          <a:xfrm>
            <a:off x="4949306" y="3012616"/>
            <a:ext cx="2293388" cy="20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97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0EB1-1872-301E-FFEF-8B40B857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23834"/>
            <a:ext cx="11155680" cy="1362456"/>
          </a:xfrm>
        </p:spPr>
        <p:txBody>
          <a:bodyPr>
            <a:noAutofit/>
          </a:bodyPr>
          <a:lstStyle/>
          <a:p>
            <a:pPr>
              <a:spcAft>
                <a:spcPts val="200"/>
              </a:spcAft>
            </a:pPr>
            <a:r>
              <a:rPr lang="en-ZA" dirty="0">
                <a:solidFill>
                  <a:srgbClr val="005A45"/>
                </a:solidFill>
                <a:latin typeface="Aptos"/>
              </a:rPr>
              <a:t>The Innovation - Mzansi Opportunity Wallet</a:t>
            </a:r>
            <a:br>
              <a:rPr lang="en-ZA" dirty="0">
                <a:solidFill>
                  <a:srgbClr val="005A45"/>
                </a:solidFill>
                <a:latin typeface="Aptos"/>
              </a:rPr>
            </a:br>
            <a:r>
              <a:rPr lang="en-ZA" sz="2400" dirty="0">
                <a:solidFill>
                  <a:srgbClr val="52616B"/>
                </a:solidFill>
                <a:latin typeface="Aptos"/>
              </a:rPr>
              <a:t>A bank-owned wallet that turns small jobs into financial visibility</a:t>
            </a:r>
            <a:br>
              <a:rPr lang="en-ZA" sz="2400" dirty="0">
                <a:solidFill>
                  <a:srgbClr val="52616B"/>
                </a:solidFill>
                <a:latin typeface="Aptos"/>
              </a:rPr>
            </a:br>
            <a:endParaRPr lang="en-ZA" sz="2400" dirty="0"/>
          </a:p>
        </p:txBody>
      </p:sp>
      <p:sp>
        <p:nvSpPr>
          <p:cNvPr id="4" name="Verify text">
            <a:extLst>
              <a:ext uri="{FF2B5EF4-FFF2-40B4-BE49-F238E27FC236}">
                <a16:creationId xmlns:a16="http://schemas.microsoft.com/office/drawing/2014/main" id="{31643BA5-BB76-0977-4D48-640F809E566F}"/>
              </a:ext>
            </a:extLst>
          </p:cNvPr>
          <p:cNvSpPr txBox="1"/>
          <p:nvPr/>
        </p:nvSpPr>
        <p:spPr>
          <a:xfrm>
            <a:off x="460248" y="2075688"/>
            <a:ext cx="1828800" cy="142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300"/>
              </a:spcAft>
            </a:pPr>
            <a:r>
              <a:rPr lang="en-ZA" sz="1600" b="1" dirty="0">
                <a:solidFill>
                  <a:srgbClr val="00B050"/>
                </a:solidFill>
                <a:latin typeface="Aptos"/>
              </a:rPr>
              <a:t>Verify</a:t>
            </a:r>
          </a:p>
          <a:p>
            <a:pPr algn="l">
              <a:spcAft>
                <a:spcPts val="400"/>
              </a:spcAft>
            </a:pPr>
            <a:r>
              <a:rPr lang="en-ZA" sz="1150" dirty="0">
                <a:solidFill>
                  <a:schemeClr val="bg1">
                    <a:lumMod val="75000"/>
                  </a:schemeClr>
                </a:solidFill>
                <a:latin typeface="Aptos"/>
              </a:rPr>
              <a:t>Bank-verified profile using KYC/FICA, skills, location, and references</a:t>
            </a:r>
          </a:p>
        </p:txBody>
      </p:sp>
      <p:sp>
        <p:nvSpPr>
          <p:cNvPr id="6" name="Match text">
            <a:extLst>
              <a:ext uri="{FF2B5EF4-FFF2-40B4-BE49-F238E27FC236}">
                <a16:creationId xmlns:a16="http://schemas.microsoft.com/office/drawing/2014/main" id="{09DA085D-8B97-FCBD-1E8B-0190DF4FEBE3}"/>
              </a:ext>
            </a:extLst>
          </p:cNvPr>
          <p:cNvSpPr txBox="1"/>
          <p:nvPr/>
        </p:nvSpPr>
        <p:spPr>
          <a:xfrm>
            <a:off x="3145536" y="2075688"/>
            <a:ext cx="1828800" cy="14264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300"/>
              </a:spcAft>
            </a:pPr>
            <a:r>
              <a:rPr lang="en-ZA" sz="1600" b="1" dirty="0">
                <a:solidFill>
                  <a:srgbClr val="005A45"/>
                </a:solidFill>
                <a:latin typeface="Aptos"/>
              </a:rPr>
              <a:t>Match</a:t>
            </a:r>
          </a:p>
          <a:p>
            <a:pPr algn="l">
              <a:spcAft>
                <a:spcPts val="400"/>
              </a:spcAft>
            </a:pPr>
            <a:r>
              <a:rPr lang="en-ZA" sz="1150" dirty="0">
                <a:solidFill>
                  <a:srgbClr val="52616B"/>
                </a:solidFill>
                <a:latin typeface="Aptos"/>
              </a:rPr>
              <a:t>Connect users to gigs, SME work, learnerships, and township business support</a:t>
            </a:r>
          </a:p>
        </p:txBody>
      </p:sp>
      <p:sp>
        <p:nvSpPr>
          <p:cNvPr id="8" name="Protect text">
            <a:extLst>
              <a:ext uri="{FF2B5EF4-FFF2-40B4-BE49-F238E27FC236}">
                <a16:creationId xmlns:a16="http://schemas.microsoft.com/office/drawing/2014/main" id="{C228E25F-9E3A-117C-CA62-98A835B256CA}"/>
              </a:ext>
            </a:extLst>
          </p:cNvPr>
          <p:cNvSpPr txBox="1"/>
          <p:nvPr/>
        </p:nvSpPr>
        <p:spPr>
          <a:xfrm>
            <a:off x="5650992" y="2002536"/>
            <a:ext cx="1828800" cy="14264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300"/>
              </a:spcAft>
            </a:pPr>
            <a:r>
              <a:rPr lang="en-ZA" sz="1600" b="1" dirty="0">
                <a:solidFill>
                  <a:srgbClr val="92D050"/>
                </a:solidFill>
                <a:latin typeface="Aptos"/>
              </a:rPr>
              <a:t>Protect</a:t>
            </a:r>
          </a:p>
          <a:p>
            <a:pPr algn="l">
              <a:spcAft>
                <a:spcPts val="400"/>
              </a:spcAft>
            </a:pPr>
            <a:r>
              <a:rPr lang="en-ZA" sz="115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Hold payment safely and release it when work is completed</a:t>
            </a:r>
          </a:p>
        </p:txBody>
      </p:sp>
      <p:sp>
        <p:nvSpPr>
          <p:cNvPr id="14" name="Record text">
            <a:extLst>
              <a:ext uri="{FF2B5EF4-FFF2-40B4-BE49-F238E27FC236}">
                <a16:creationId xmlns:a16="http://schemas.microsoft.com/office/drawing/2014/main" id="{CB6B5B98-A8F9-DE53-E35F-ADF231660FB3}"/>
              </a:ext>
            </a:extLst>
          </p:cNvPr>
          <p:cNvSpPr txBox="1"/>
          <p:nvPr/>
        </p:nvSpPr>
        <p:spPr>
          <a:xfrm>
            <a:off x="8074152" y="2002536"/>
            <a:ext cx="1828800" cy="14264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300"/>
              </a:spcAft>
            </a:pPr>
            <a:r>
              <a:rPr lang="en-ZA" sz="1600" b="1" dirty="0">
                <a:solidFill>
                  <a:srgbClr val="00B050"/>
                </a:solidFill>
                <a:latin typeface="Aptos"/>
              </a:rPr>
              <a:t>Record</a:t>
            </a:r>
          </a:p>
          <a:p>
            <a:pPr algn="l">
              <a:spcAft>
                <a:spcPts val="400"/>
              </a:spcAft>
            </a:pPr>
            <a:r>
              <a:rPr lang="en-ZA" sz="115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Every completed job becomes a verified earning event</a:t>
            </a:r>
          </a:p>
        </p:txBody>
      </p:sp>
      <p:sp>
        <p:nvSpPr>
          <p:cNvPr id="16" name="Finance text">
            <a:extLst>
              <a:ext uri="{FF2B5EF4-FFF2-40B4-BE49-F238E27FC236}">
                <a16:creationId xmlns:a16="http://schemas.microsoft.com/office/drawing/2014/main" id="{61DD4339-BB56-40DD-E818-4553AFA31ABB}"/>
              </a:ext>
            </a:extLst>
          </p:cNvPr>
          <p:cNvSpPr txBox="1"/>
          <p:nvPr/>
        </p:nvSpPr>
        <p:spPr>
          <a:xfrm>
            <a:off x="10250424" y="2002536"/>
            <a:ext cx="1828800" cy="14264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square" lIns="10000" tIns="10000" rIns="10000" bIns="10000"/>
          <a:lstStyle/>
          <a:p>
            <a:pPr algn="l">
              <a:spcAft>
                <a:spcPts val="300"/>
              </a:spcAft>
            </a:pPr>
            <a:r>
              <a:rPr lang="en-ZA" sz="1600" b="1" dirty="0">
                <a:solidFill>
                  <a:srgbClr val="92D050"/>
                </a:solidFill>
                <a:latin typeface="Aptos"/>
              </a:rPr>
              <a:t>Finance</a:t>
            </a:r>
          </a:p>
          <a:p>
            <a:pPr algn="l">
              <a:spcAft>
                <a:spcPts val="400"/>
              </a:spcAft>
            </a:pPr>
            <a:r>
              <a:rPr lang="en-ZA" sz="115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Responsible advances for transport, data, tools, stock, or certification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56E7D1-AA51-557D-A224-7E14E5E4B5B3}"/>
              </a:ext>
            </a:extLst>
          </p:cNvPr>
          <p:cNvSpPr txBox="1"/>
          <p:nvPr/>
        </p:nvSpPr>
        <p:spPr>
          <a:xfrm>
            <a:off x="460248" y="3700694"/>
            <a:ext cx="11618976" cy="8438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lang="en-ZA" sz="1200" b="1" dirty="0">
                <a:solidFill>
                  <a:srgbClr val="005A45"/>
                </a:solidFill>
                <a:latin typeface="Aptos"/>
              </a:rPr>
              <a:t>Example journey</a:t>
            </a:r>
          </a:p>
          <a:p>
            <a:pPr>
              <a:spcAft>
                <a:spcPts val="400"/>
              </a:spcAft>
            </a:pPr>
            <a:r>
              <a:rPr lang="en-ZA" sz="1800" b="1" dirty="0">
                <a:solidFill>
                  <a:srgbClr val="1F2933"/>
                </a:solidFill>
                <a:latin typeface="Aptos"/>
              </a:rPr>
              <a:t>A young person gets a weekend retail shift, receives a small transport/data advance, completes the job, is paid instantly, and builds a verified work history.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94EAD-20FF-F1DE-5C1C-11D72C20C2B0}"/>
              </a:ext>
            </a:extLst>
          </p:cNvPr>
          <p:cNvSpPr txBox="1"/>
          <p:nvPr/>
        </p:nvSpPr>
        <p:spPr>
          <a:xfrm>
            <a:off x="3048762" y="5014804"/>
            <a:ext cx="6094476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ZA" sz="1800" b="1" dirty="0">
                <a:solidFill>
                  <a:srgbClr val="005A45"/>
                </a:solidFill>
                <a:latin typeface="Aptos"/>
              </a:rPr>
              <a:t>Opportunity creates earnings. Earnings create proof. Proof creates trust. Trust unlocks more opportunity.</a:t>
            </a:r>
          </a:p>
        </p:txBody>
      </p:sp>
    </p:spTree>
    <p:extLst>
      <p:ext uri="{BB962C8B-B14F-4D97-AF65-F5344CB8AC3E}">
        <p14:creationId xmlns:p14="http://schemas.microsoft.com/office/powerpoint/2010/main" val="382982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7E39-56D0-CD42-4EDC-B692A4E7443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>
              <a:spcAft>
                <a:spcPts val="200"/>
              </a:spcAft>
            </a:pPr>
            <a:r>
              <a:rPr lang="en-ZA" sz="4800" dirty="0">
                <a:solidFill>
                  <a:srgbClr val="005A45"/>
                </a:solidFill>
                <a:latin typeface="Aptos"/>
              </a:rPr>
              <a:t>Why The Bank Should Do This</a:t>
            </a:r>
            <a:br>
              <a:rPr lang="en-ZA" sz="4800" dirty="0">
                <a:solidFill>
                  <a:srgbClr val="005A45"/>
                </a:solidFill>
                <a:latin typeface="Aptos"/>
              </a:rPr>
            </a:br>
            <a:r>
              <a:rPr lang="en-ZA" sz="2800" dirty="0">
                <a:solidFill>
                  <a:srgbClr val="52616B"/>
                </a:solidFill>
                <a:latin typeface="Aptos"/>
              </a:rPr>
              <a:t>This is not charity. It is a new financial ecosystem.</a:t>
            </a:r>
            <a:br>
              <a:rPr lang="en-ZA" sz="2800" dirty="0">
                <a:solidFill>
                  <a:srgbClr val="52616B"/>
                </a:solidFill>
                <a:latin typeface="Aptos"/>
              </a:rPr>
            </a:br>
            <a:endParaRPr lang="en-ZA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4DAC3-8BF9-B76B-7BCE-053CFACE8307}"/>
              </a:ext>
            </a:extLst>
          </p:cNvPr>
          <p:cNvSpPr txBox="1"/>
          <p:nvPr/>
        </p:nvSpPr>
        <p:spPr>
          <a:xfrm>
            <a:off x="521208" y="2908453"/>
            <a:ext cx="5145786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b="1" dirty="0">
                <a:solidFill>
                  <a:srgbClr val="005A45"/>
                </a:solidFill>
                <a:latin typeface="Aptos"/>
              </a:rPr>
              <a:t>Why a bank is uniquely positioned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Banks already verify identity.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Banks already move money safely.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Banks already manage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Banks already serve SMEs and corporates.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Banks can turn income behaviour into responsible financial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1AFC8-0716-7390-3FE2-3A180818E674}"/>
              </a:ext>
            </a:extLst>
          </p:cNvPr>
          <p:cNvSpPr txBox="1"/>
          <p:nvPr/>
        </p:nvSpPr>
        <p:spPr>
          <a:xfrm>
            <a:off x="5984748" y="2908453"/>
            <a:ext cx="5686044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b="1" dirty="0">
                <a:solidFill>
                  <a:srgbClr val="005A45"/>
                </a:solidFill>
                <a:latin typeface="Aptos"/>
              </a:rPr>
              <a:t>How the bank benefits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New youth customers at the start of their financial lives.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More deposits, transactions, and payment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Better alternative data for safer credit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Stronger SME and corporate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Responsible growth in micro-credit, insurance, savings, merchant services, and business accounts.</a:t>
            </a:r>
          </a:p>
        </p:txBody>
      </p:sp>
    </p:spTree>
    <p:extLst>
      <p:ext uri="{BB962C8B-B14F-4D97-AF65-F5344CB8AC3E}">
        <p14:creationId xmlns:p14="http://schemas.microsoft.com/office/powerpoint/2010/main" val="333659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  <p:bldP spid="10" grpId="0" uiExpan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D052E-1E35-5E9C-EB6E-F2FF3467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31520"/>
            <a:ext cx="11155680" cy="1051560"/>
          </a:xfrm>
        </p:spPr>
        <p:txBody>
          <a:bodyPr>
            <a:noAutofit/>
          </a:bodyPr>
          <a:lstStyle/>
          <a:p>
            <a:pPr>
              <a:spcAft>
                <a:spcPts val="200"/>
              </a:spcAft>
            </a:pPr>
            <a:r>
              <a:rPr lang="en-ZA" sz="4000" dirty="0">
                <a:solidFill>
                  <a:srgbClr val="005A45"/>
                </a:solidFill>
                <a:latin typeface="Aptos"/>
              </a:rPr>
              <a:t>MVP, Safeguards, And Impact</a:t>
            </a:r>
            <a:br>
              <a:rPr lang="en-ZA" sz="4000" dirty="0">
                <a:solidFill>
                  <a:srgbClr val="005A45"/>
                </a:solidFill>
                <a:latin typeface="Aptos"/>
              </a:rPr>
            </a:br>
            <a:r>
              <a:rPr lang="en-ZA" sz="2000" dirty="0">
                <a:solidFill>
                  <a:srgbClr val="52616B"/>
                </a:solidFill>
                <a:latin typeface="Aptos"/>
              </a:rPr>
              <a:t>Start small, prove trust, then scale</a:t>
            </a:r>
            <a:br>
              <a:rPr lang="en-ZA" sz="2000" dirty="0">
                <a:solidFill>
                  <a:srgbClr val="52616B"/>
                </a:solidFill>
                <a:latin typeface="Aptos"/>
              </a:rPr>
            </a:br>
            <a:endParaRPr lang="en-ZA" sz="2000" dirty="0"/>
          </a:p>
        </p:txBody>
      </p:sp>
      <p:sp>
        <p:nvSpPr>
          <p:cNvPr id="4" name="MVP text">
            <a:extLst>
              <a:ext uri="{FF2B5EF4-FFF2-40B4-BE49-F238E27FC236}">
                <a16:creationId xmlns:a16="http://schemas.microsoft.com/office/drawing/2014/main" id="{96C812ED-A061-4F86-97AD-42EF0025AEB4}"/>
              </a:ext>
            </a:extLst>
          </p:cNvPr>
          <p:cNvSpPr txBox="1"/>
          <p:nvPr/>
        </p:nvSpPr>
        <p:spPr>
          <a:xfrm>
            <a:off x="658366" y="2029968"/>
            <a:ext cx="3154680" cy="2788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10000" tIns="10000" rIns="10000" bIns="10000"/>
          <a:lstStyle/>
          <a:p>
            <a:pPr>
              <a:spcAft>
                <a:spcPts val="400"/>
              </a:spcAft>
            </a:pPr>
            <a:r>
              <a:rPr lang="en-ZA" sz="1700" b="1" dirty="0">
                <a:solidFill>
                  <a:schemeClr val="bg1"/>
                </a:solidFill>
                <a:latin typeface="Aptos"/>
              </a:rPr>
              <a:t>MVP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Pilot in one metro or township corridor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Start with retail shifts, home services, and township business support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Partner with SMEs, franchises, municipalities, NGOs, and corporate supplier-development programmes</a:t>
            </a:r>
          </a:p>
        </p:txBody>
      </p:sp>
      <p:sp>
        <p:nvSpPr>
          <p:cNvPr id="6" name="Safeguards text">
            <a:extLst>
              <a:ext uri="{FF2B5EF4-FFF2-40B4-BE49-F238E27FC236}">
                <a16:creationId xmlns:a16="http://schemas.microsoft.com/office/drawing/2014/main" id="{A055787C-62F3-6F3A-C5DC-B9FF91A19429}"/>
              </a:ext>
            </a:extLst>
          </p:cNvPr>
          <p:cNvSpPr txBox="1"/>
          <p:nvPr/>
        </p:nvSpPr>
        <p:spPr>
          <a:xfrm>
            <a:off x="4818888" y="2029968"/>
            <a:ext cx="3154680" cy="2788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0000" tIns="10000" rIns="10000" bIns="10000"/>
          <a:lstStyle/>
          <a:p>
            <a:pPr>
              <a:spcAft>
                <a:spcPts val="400"/>
              </a:spcAft>
            </a:pPr>
            <a:r>
              <a:rPr lang="en-ZA" sz="1700" b="1" dirty="0">
                <a:solidFill>
                  <a:schemeClr val="bg1"/>
                </a:solidFill>
                <a:latin typeface="Aptos"/>
              </a:rPr>
              <a:t>Safeguards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POPIA-compliant consent and data use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Verified employers and fair minimum pay bands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Clear dispute process and transparent scoring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Affordability checks before credit</a:t>
            </a:r>
          </a:p>
        </p:txBody>
      </p:sp>
      <p:sp>
        <p:nvSpPr>
          <p:cNvPr id="8" name="Impact Metrics text">
            <a:extLst>
              <a:ext uri="{FF2B5EF4-FFF2-40B4-BE49-F238E27FC236}">
                <a16:creationId xmlns:a16="http://schemas.microsoft.com/office/drawing/2014/main" id="{D5D66E25-71C5-9681-D72C-49D175D5FD26}"/>
              </a:ext>
            </a:extLst>
          </p:cNvPr>
          <p:cNvSpPr txBox="1"/>
          <p:nvPr/>
        </p:nvSpPr>
        <p:spPr>
          <a:xfrm>
            <a:off x="8378954" y="2029968"/>
            <a:ext cx="3154680" cy="27889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0000" tIns="10000" rIns="10000" bIns="10000"/>
          <a:lstStyle/>
          <a:p>
            <a:pPr>
              <a:spcAft>
                <a:spcPts val="400"/>
              </a:spcAft>
            </a:pPr>
            <a:r>
              <a:rPr lang="en-ZA" sz="1700" b="1" dirty="0">
                <a:solidFill>
                  <a:schemeClr val="bg1"/>
                </a:solidFill>
                <a:latin typeface="Aptos"/>
              </a:rPr>
              <a:t>Impact Metrics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Verified earning events created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Repeat hiring rate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Payment dispute rate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Micro-advance repayment rate</a:t>
            </a:r>
          </a:p>
          <a:p>
            <a:pPr marL="3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1230" dirty="0">
                <a:solidFill>
                  <a:schemeClr val="bg1"/>
                </a:solidFill>
                <a:latin typeface="Aptos"/>
              </a:rPr>
              <a:t>Users graduating into fuller banking products</a:t>
            </a:r>
          </a:p>
        </p:txBody>
      </p:sp>
      <p:sp>
        <p:nvSpPr>
          <p:cNvPr id="10" name="Closing line">
            <a:extLst>
              <a:ext uri="{FF2B5EF4-FFF2-40B4-BE49-F238E27FC236}">
                <a16:creationId xmlns:a16="http://schemas.microsoft.com/office/drawing/2014/main" id="{407DE5E2-A62B-7FA3-2E4A-1DCECC60976C}"/>
              </a:ext>
            </a:extLst>
          </p:cNvPr>
          <p:cNvSpPr txBox="1"/>
          <p:nvPr/>
        </p:nvSpPr>
        <p:spPr>
          <a:xfrm>
            <a:off x="658366" y="5166360"/>
            <a:ext cx="10875268" cy="896112"/>
          </a:xfrm>
          <a:prstGeom prst="rect">
            <a:avLst/>
          </a:prstGeom>
          <a:solidFill>
            <a:srgbClr val="E6EFEA"/>
          </a:solidFill>
          <a:ln w="9000">
            <a:solidFill>
              <a:srgbClr val="E6EFEA"/>
            </a:solidFill>
          </a:ln>
        </p:spPr>
        <p:txBody>
          <a:bodyPr wrap="square" lIns="65000" tIns="65000" rIns="65000" bIns="65000"/>
          <a:lstStyle/>
          <a:p>
            <a:pPr algn="l">
              <a:spcAft>
                <a:spcPts val="200"/>
              </a:spcAft>
            </a:pPr>
            <a:r>
              <a:rPr lang="en-ZA" sz="1800" b="1" dirty="0">
                <a:solidFill>
                  <a:srgbClr val="1F2933"/>
                </a:solidFill>
                <a:latin typeface="Aptos"/>
              </a:rPr>
              <a:t>South Africa does not only needs more bank accounts. It needs more people becoming economically visible.</a:t>
            </a:r>
          </a:p>
          <a:p>
            <a:pPr algn="l">
              <a:spcAft>
                <a:spcPts val="400"/>
              </a:spcAft>
            </a:pPr>
            <a:r>
              <a:rPr lang="en-ZA" sz="1300" dirty="0">
                <a:solidFill>
                  <a:srgbClr val="005A45"/>
                </a:solidFill>
                <a:latin typeface="Aptos"/>
              </a:rPr>
              <a:t>Mzansi Opportunity Wallet turns the bank into a trusted bridge between talent, work, payment, and financial inclusion.</a:t>
            </a:r>
          </a:p>
        </p:txBody>
      </p:sp>
    </p:spTree>
    <p:extLst>
      <p:ext uri="{BB962C8B-B14F-4D97-AF65-F5344CB8AC3E}">
        <p14:creationId xmlns:p14="http://schemas.microsoft.com/office/powerpoint/2010/main" val="129746144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119</TotalTime>
  <Words>807</Words>
  <Application>Microsoft Office PowerPoint</Application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Bierstadt</vt:lpstr>
      <vt:lpstr>Consolas</vt:lpstr>
      <vt:lpstr>GestaltVTI</vt:lpstr>
      <vt:lpstr>Mzansi Opportunity Wallet </vt:lpstr>
      <vt:lpstr>Inspiration From Another Industry Borrowing from ride-hailing and marketplace platforms. </vt:lpstr>
      <vt:lpstr>The Innovation - Mzansi Opportunity Wallet A bank-owned wallet that turns small jobs into financial visibility </vt:lpstr>
      <vt:lpstr>Why The Bank Should Do This This is not charity. It is a new financial ecosystem. </vt:lpstr>
      <vt:lpstr>MVP, Safeguards, And Impact Start small, prove trust, then scale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Humbulani Colbert Nekhumbe</dc:creator>
  <cp:lastModifiedBy>Humbulani Colbert Nekhumbe</cp:lastModifiedBy>
  <cp:revision>1</cp:revision>
  <dcterms:created xsi:type="dcterms:W3CDTF">2026-07-04T10:46:20Z</dcterms:created>
  <dcterms:modified xsi:type="dcterms:W3CDTF">2026-07-08T12:45:37Z</dcterms:modified>
</cp:coreProperties>
</file>